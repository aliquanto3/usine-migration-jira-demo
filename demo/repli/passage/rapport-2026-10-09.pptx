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7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7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Rapport quotidien du 09/10/2026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Programme : Banque Exemple — migration SI cœur</a:t>
            </a:r>
          </a:p>
          <a:p>
            <a:r>
              <a:t>Date d'arrêté : 09/10/2026</a:t>
            </a:r>
          </a:p>
          <a:p>
            <a:r>
              <a:t>Périmètre : 10 Entités : ENT-A, ENT-B, ENT-C, ENT-D, ENT-E, ENT-F, ENT-G, ENT-H, ENT-I, ENT-J</a:t>
            </a:r>
          </a:p>
          <a:p>
            <a:r>
              <a:t>Palier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00000"/>
          <a:ext cx="11277600" cy="16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1127760"/>
                <a:gridCol w="7894320"/>
              </a:tblGrid>
              <a:tr h="330000">
                <a:tc>
                  <a:txBody>
                    <a:bodyPr/>
                    <a:lstStyle/>
                    <a:p>
                      <a:r>
                        <a:rPr sz="1100" b="1"/>
                        <a:t>Couleur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Entités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Rouge</a:t>
                      </a:r>
                    </a:p>
                  </a:txBody>
                  <a:tcPr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ENT-A, ENT-B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Orange</a:t>
                      </a:r>
                    </a:p>
                  </a:txBody>
                  <a:tcPr>
                    <a:solidFill>
                      <a:srgbClr val="EF6C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ENT-C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</a:rPr>
                        <a:t>Jaune</a:t>
                      </a:r>
                    </a:p>
                  </a:txBody>
                  <a:tcPr>
                    <a:solidFill>
                      <a:srgbClr val="F9A8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ENT-F, ENT-J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Vert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ENT-D, ENT-E, ENT-G, ENT-H, ENT-I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50000"/>
            <a:ext cx="112776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Changements de Météo</a:t>
            </a:r>
          </a:p>
          <a:p>
            <a:r>
              <a:rPr sz="1400"/>
              <a:t>Depuis J-1 : aucun changement</a:t>
            </a:r>
          </a:p>
          <a:p>
            <a:r>
              <a:rPr sz="1400"/>
              <a:t>Depuis J-5 : aucun changement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00000"/>
            <a:ext cx="112776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Messages clés</a:t>
            </a:r>
          </a:p>
          <a:p>
            <a:r>
              <a:rPr sz="1400"/>
              <a:t>2 Entités en rouge et 1 en orange sur 10</a:t>
            </a:r>
          </a:p>
          <a:p>
            <a:r>
              <a:rPr sz="1400"/>
              <a:t>Aucune Entité n'a changé de Météo depuis J-1</a:t>
            </a:r>
          </a:p>
          <a:p>
            <a:r>
              <a:rPr sz="1400"/>
              <a:t>Anomalies bloquantes ouvertes sur le Programme : 53 ; Entrées et Sorties de la Fenêtre glissante : 438 et 382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Carte météo du 09/10/2026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00000"/>
          <a:ext cx="11277600" cy="36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85"/>
                <a:gridCol w="1611085"/>
                <a:gridCol w="2416628"/>
                <a:gridCol w="5638802"/>
              </a:tblGrid>
              <a:tr h="330000">
                <a:tc>
                  <a:txBody>
                    <a:bodyPr/>
                    <a:lstStyle/>
                    <a:p>
                      <a:r>
                        <a:rPr sz="1100" b="1"/>
                        <a:t>Entité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Météo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Tendance vs J-5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Règle déclenchante principale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Rouge</a:t>
                      </a:r>
                    </a:p>
                  </a:txBody>
                  <a:tcPr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IND-1 : 21 (seuil ≥ 3)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Rouge</a:t>
                      </a:r>
                    </a:p>
                  </a:txBody>
                  <a:tcPr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IND-1 : 32 (seuil ≥ 3)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Orange</a:t>
                      </a:r>
                    </a:p>
                  </a:txBody>
                  <a:tcPr>
                    <a:solidFill>
                      <a:srgbClr val="EF6C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IND-4 : 16,7 % (seuil ≥ 10 %)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Vert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—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Vert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—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</a:rPr>
                        <a:t>Jaune</a:t>
                      </a:r>
                    </a:p>
                  </a:txBody>
                  <a:tcPr>
                    <a:solidFill>
                      <a:srgbClr val="F9A8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IND-6 : 1 (seuil ≥ 1)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Vert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—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Vert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—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Vert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—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ENT-J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12121"/>
                          </a:solidFill>
                        </a:rPr>
                        <a:t>Jaune</a:t>
                      </a:r>
                    </a:p>
                  </a:txBody>
                  <a:tcPr>
                    <a:solidFill>
                      <a:srgbClr val="F9A8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→ 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IND-6 : 1 (seuil ≥ 1)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ENT-A — Rouge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00000"/>
            <a:ext cx="55388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Règles déclenchantes</a:t>
            </a:r>
          </a:p>
          <a:p>
            <a:r>
              <a:rPr sz="1200"/>
              <a:t>IND-1 : 21 (seuil ≥ 3)</a:t>
            </a:r>
          </a:p>
          <a:p>
            <a:r>
              <a:rPr sz="1200"/>
              <a:t>IND-2 : 14 (seuil &gt; 10)</a:t>
            </a:r>
          </a:p>
          <a:p>
            <a:r>
              <a:rPr sz="1200"/>
              <a:t>Tickets en cause : </a:t>
            </a:r>
            <a:r>
              <a:rPr sz="1200"/>
              <a:t>DEMO-2113</a:t>
            </a:r>
            <a:r>
              <a:rPr sz="1200"/>
              <a:t>, </a:t>
            </a:r>
            <a:r>
              <a:rPr sz="1200"/>
              <a:t>DEMO-2140</a:t>
            </a:r>
            <a:r>
              <a:rPr sz="1200"/>
              <a:t>, </a:t>
            </a:r>
            <a:r>
              <a:rPr sz="1200"/>
              <a:t>DEMO-2151</a:t>
            </a:r>
            <a:r>
              <a:rPr sz="1200"/>
              <a:t>, </a:t>
            </a:r>
            <a:r>
              <a:rPr sz="1200"/>
              <a:t>DEMO-2161</a:t>
            </a:r>
            <a:r>
              <a:rPr sz="1200"/>
              <a:t>, </a:t>
            </a:r>
            <a:r>
              <a:rPr sz="1200"/>
              <a:t>DEMO-2170</a:t>
            </a:r>
            <a:r>
              <a:rPr sz="1200"/>
              <a:t>, </a:t>
            </a:r>
            <a:r>
              <a:rPr sz="1200"/>
              <a:t>DEMO-2182</a:t>
            </a:r>
            <a:r>
              <a:rPr sz="1200"/>
              <a:t>, </a:t>
            </a:r>
            <a:r>
              <a:rPr sz="1200"/>
              <a:t>DEMO-2250</a:t>
            </a:r>
            <a:r>
              <a:rPr sz="1200"/>
              <a:t>, </a:t>
            </a:r>
            <a:r>
              <a:rPr sz="1200"/>
              <a:t>DEMO-2257</a:t>
            </a:r>
            <a:r>
              <a:rPr sz="1200"/>
              <a:t>, </a:t>
            </a:r>
            <a:r>
              <a:rPr sz="1200"/>
              <a:t>DEMO-2261</a:t>
            </a:r>
            <a:r>
              <a:rPr sz="1200"/>
              <a:t>, </a:t>
            </a:r>
            <a:r>
              <a:rPr sz="1200"/>
              <a:t>DEMO-2287</a:t>
            </a:r>
            <a:r>
              <a:rPr sz="1200"/>
              <a:t>, </a:t>
            </a:r>
            <a:r>
              <a:rPr sz="1200"/>
              <a:t>DEMO-2292</a:t>
            </a:r>
            <a:r>
              <a:rPr sz="1200"/>
              <a:t>, </a:t>
            </a:r>
            <a:r>
              <a:rPr sz="1200"/>
              <a:t>DEMO-2335</a:t>
            </a:r>
            <a:r>
              <a:rPr sz="1200"/>
              <a:t>, </a:t>
            </a:r>
            <a:r>
              <a:rPr sz="1200"/>
              <a:t>DEMO-2372</a:t>
            </a:r>
            <a:r>
              <a:rPr sz="1200"/>
              <a:t>, </a:t>
            </a:r>
            <a:r>
              <a:rPr sz="1200"/>
              <a:t>DEMO-2420</a:t>
            </a:r>
            <a:r>
              <a:rPr sz="1200"/>
              <a:t>, </a:t>
            </a:r>
            <a:r>
              <a:rPr sz="1200"/>
              <a:t>DEMO-2435</a:t>
            </a:r>
            <a:r>
              <a:rPr sz="1200"/>
              <a:t>, </a:t>
            </a:r>
            <a:r>
              <a:rPr sz="1200"/>
              <a:t>DEMO-2465</a:t>
            </a:r>
            <a:r>
              <a:rPr sz="1200"/>
              <a:t>, </a:t>
            </a:r>
            <a:r>
              <a:rPr sz="1200"/>
              <a:t>DEMO-2476</a:t>
            </a:r>
            <a:r>
              <a:rPr sz="1200"/>
              <a:t>, </a:t>
            </a:r>
            <a:r>
              <a:rPr sz="1200"/>
              <a:t>DEMO-2502</a:t>
            </a:r>
            <a:r>
              <a:rPr sz="1200"/>
              <a:t>, </a:t>
            </a:r>
            <a:r>
              <a:rPr sz="1200"/>
              <a:t>DEMO-2503</a:t>
            </a:r>
            <a:r>
              <a:rPr sz="1200"/>
              <a:t>, </a:t>
            </a:r>
            <a:r>
              <a:rPr sz="1200"/>
              <a:t>DEMO-2509</a:t>
            </a:r>
            <a:r>
              <a:rPr sz="1200"/>
              <a:t>, </a:t>
            </a:r>
            <a:r>
              <a:rPr sz="1200"/>
              <a:t>DEMO-2515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000000"/>
          <a:ext cx="5538800" cy="2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1040"/>
                <a:gridCol w="1107760"/>
              </a:tblGrid>
              <a:tr h="250000">
                <a:tc>
                  <a:txBody>
                    <a:bodyPr/>
                    <a:lstStyle/>
                    <a:p>
                      <a:r>
                        <a:rPr sz="900" b="1"/>
                        <a:t>KPI clé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Valeur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54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 par gravité — Bloquante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 par gravité — Majeure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Entrées d'Anomalies, Fenêtre glissante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Sorties d'Anomalies, Fenêtre glissante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Âge médian des Anomalies ouvertes (Jours ouvrés)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Âge maximal des Anomalies ouvertes (Jours ouvrés)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Migration à blanc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TNR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0 %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96000" y="1500000"/>
            <a:ext cx="55388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Brouillon de commentaire</a:t>
            </a:r>
          </a:p>
          <a:p>
            <a:r>
              <a:rPr sz="1200"/>
              <a:t>commentaire non généré (Palier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6000" y="3900000"/>
            <a:ext cx="55388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Prévision</a:t>
            </a:r>
          </a:p>
          <a:p>
            <a:r>
              <a:rPr sz="1200"/>
              <a:t>Sortie du rouge non projetable (règle IND-2)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ENT-B — Rouge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00000"/>
            <a:ext cx="55388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Règles déclenchantes</a:t>
            </a:r>
          </a:p>
          <a:p>
            <a:r>
              <a:rPr sz="1200"/>
              <a:t>IND-1 : 32 (seuil ≥ 3)</a:t>
            </a:r>
          </a:p>
          <a:p>
            <a:r>
              <a:rPr sz="1200"/>
              <a:t>IND-2 : 34 (seuil &gt; 10)</a:t>
            </a:r>
          </a:p>
          <a:p>
            <a:r>
              <a:rPr sz="1200"/>
              <a:t>IND-3 : 171 (seuil ≥ 20)</a:t>
            </a:r>
          </a:p>
          <a:p>
            <a:r>
              <a:rPr sz="1200"/>
              <a:t>IND-5 : 1 (seuil ≥ 1)</a:t>
            </a:r>
          </a:p>
          <a:p>
            <a:r>
              <a:rPr sz="1200"/>
              <a:t>Tickets en cause : </a:t>
            </a:r>
            <a:r>
              <a:rPr sz="1200"/>
              <a:t>DEMO-407</a:t>
            </a:r>
            <a:r>
              <a:rPr sz="1200"/>
              <a:t>, </a:t>
            </a:r>
            <a:r>
              <a:rPr sz="1200"/>
              <a:t>DEMO-477</a:t>
            </a:r>
            <a:r>
              <a:rPr sz="1200"/>
              <a:t>, </a:t>
            </a:r>
            <a:r>
              <a:rPr sz="1200"/>
              <a:t>DEMO-890</a:t>
            </a:r>
            <a:r>
              <a:rPr sz="1200"/>
              <a:t>, </a:t>
            </a:r>
            <a:r>
              <a:rPr sz="1200"/>
              <a:t>DEMO-1023</a:t>
            </a:r>
            <a:r>
              <a:rPr sz="1200"/>
              <a:t>, </a:t>
            </a:r>
            <a:r>
              <a:rPr sz="1200"/>
              <a:t>DEMO-1282</a:t>
            </a:r>
            <a:r>
              <a:rPr sz="1200"/>
              <a:t>, </a:t>
            </a:r>
            <a:r>
              <a:rPr sz="1200"/>
              <a:t>DEMO-1305</a:t>
            </a:r>
            <a:r>
              <a:rPr sz="1200"/>
              <a:t>, </a:t>
            </a:r>
            <a:r>
              <a:rPr sz="1200"/>
              <a:t>DEMO-1325</a:t>
            </a:r>
            <a:r>
              <a:rPr sz="1200"/>
              <a:t>, </a:t>
            </a:r>
            <a:r>
              <a:rPr sz="1200"/>
              <a:t>DEMO-1326</a:t>
            </a:r>
            <a:r>
              <a:rPr sz="1200"/>
              <a:t>, </a:t>
            </a:r>
            <a:r>
              <a:rPr sz="1200"/>
              <a:t>DEMO-1331</a:t>
            </a:r>
            <a:r>
              <a:rPr sz="1200"/>
              <a:t>, </a:t>
            </a:r>
            <a:r>
              <a:rPr sz="1200"/>
              <a:t>DEMO-1349</a:t>
            </a:r>
            <a:r>
              <a:rPr sz="1200"/>
              <a:t>, </a:t>
            </a:r>
            <a:r>
              <a:rPr sz="1200"/>
              <a:t>DEMO-1442</a:t>
            </a:r>
            <a:r>
              <a:rPr sz="1200"/>
              <a:t>, </a:t>
            </a:r>
            <a:r>
              <a:rPr sz="1200"/>
              <a:t>DEMO-1628</a:t>
            </a:r>
            <a:r>
              <a:rPr sz="1200"/>
              <a:t>, </a:t>
            </a:r>
            <a:r>
              <a:rPr sz="1200"/>
              <a:t>DEMO-1633</a:t>
            </a:r>
            <a:r>
              <a:rPr sz="1200"/>
              <a:t>, </a:t>
            </a:r>
            <a:r>
              <a:rPr sz="1200"/>
              <a:t>DEMO-1696</a:t>
            </a:r>
            <a:r>
              <a:rPr sz="1200"/>
              <a:t>, </a:t>
            </a:r>
            <a:r>
              <a:rPr sz="1200"/>
              <a:t>DEMO-1739</a:t>
            </a:r>
            <a:r>
              <a:rPr sz="1200"/>
              <a:t>, </a:t>
            </a:r>
            <a:r>
              <a:rPr sz="1200"/>
              <a:t>DEMO-1824</a:t>
            </a:r>
            <a:r>
              <a:rPr sz="1200"/>
              <a:t>, </a:t>
            </a:r>
            <a:r>
              <a:rPr sz="1200"/>
              <a:t>DEMO-1837</a:t>
            </a:r>
            <a:r>
              <a:rPr sz="1200"/>
              <a:t>, </a:t>
            </a:r>
            <a:r>
              <a:rPr sz="1200"/>
              <a:t>DEMO-2167</a:t>
            </a:r>
            <a:r>
              <a:rPr sz="1200"/>
              <a:t>, </a:t>
            </a:r>
            <a:r>
              <a:rPr sz="1200"/>
              <a:t>DEMO-2212</a:t>
            </a:r>
            <a:r>
              <a:rPr sz="1200"/>
              <a:t>, </a:t>
            </a:r>
            <a:r>
              <a:rPr sz="1200"/>
              <a:t>DEMO-2268</a:t>
            </a:r>
            <a:r>
              <a:rPr sz="1200"/>
              <a:t>, </a:t>
            </a:r>
            <a:r>
              <a:rPr sz="1200"/>
              <a:t>DEMO-2334</a:t>
            </a:r>
            <a:r>
              <a:rPr sz="1200"/>
              <a:t>, </a:t>
            </a:r>
            <a:r>
              <a:rPr sz="1200"/>
              <a:t>DEMO-2644</a:t>
            </a:r>
            <a:r>
              <a:rPr sz="1200"/>
              <a:t>, </a:t>
            </a:r>
            <a:r>
              <a:rPr sz="1200"/>
              <a:t>DEMO-2666</a:t>
            </a:r>
            <a:r>
              <a:rPr sz="1200"/>
              <a:t>, </a:t>
            </a:r>
            <a:r>
              <a:rPr sz="1200"/>
              <a:t>DEMO-2689</a:t>
            </a:r>
            <a:r>
              <a:rPr sz="1200"/>
              <a:t>, </a:t>
            </a:r>
            <a:r>
              <a:rPr sz="1200"/>
              <a:t>DEMO-2811</a:t>
            </a:r>
            <a:r>
              <a:rPr sz="1200"/>
              <a:t>, </a:t>
            </a:r>
            <a:r>
              <a:rPr sz="1200"/>
              <a:t>DEMO-2942</a:t>
            </a:r>
            <a:r>
              <a:rPr sz="1200"/>
              <a:t>, </a:t>
            </a:r>
            <a:r>
              <a:rPr sz="1200"/>
              <a:t>DEMO-3070</a:t>
            </a:r>
            <a:r>
              <a:rPr sz="1200"/>
              <a:t>, </a:t>
            </a:r>
            <a:r>
              <a:rPr sz="1200"/>
              <a:t>DEMO-3148</a:t>
            </a:r>
            <a:r>
              <a:rPr sz="1200"/>
              <a:t>, </a:t>
            </a:r>
            <a:r>
              <a:rPr sz="1200"/>
              <a:t>DEMO-3208</a:t>
            </a:r>
            <a:r>
              <a:rPr sz="1200"/>
              <a:t>, </a:t>
            </a:r>
            <a:r>
              <a:rPr sz="1200"/>
              <a:t>DEMO-3283</a:t>
            </a:r>
            <a:r>
              <a:rPr sz="1200"/>
              <a:t>, </a:t>
            </a:r>
            <a:r>
              <a:rPr sz="1200"/>
              <a:t>DEMO-3309</a:t>
            </a:r>
            <a:r>
              <a:rPr sz="1200"/>
              <a:t>, </a:t>
            </a:r>
            <a:r>
              <a:rPr sz="1200"/>
              <a:t>DEMO-3344</a:t>
            </a:r>
            <a:r>
              <a:rPr sz="1200"/>
              <a:t>, </a:t>
            </a:r>
            <a:r>
              <a:rPr sz="1200"/>
              <a:t>DEMO-465</a:t>
            </a:r>
            <a:r>
              <a:rPr sz="1200"/>
              <a:t>, </a:t>
            </a:r>
            <a:r>
              <a:rPr sz="1200"/>
              <a:t>DEMO-473</a:t>
            </a:r>
            <a:r>
              <a:rPr sz="1200"/>
              <a:t>, </a:t>
            </a:r>
            <a:r>
              <a:rPr sz="1200"/>
              <a:t>DEMO-503</a:t>
            </a:r>
            <a:r>
              <a:rPr sz="1200"/>
              <a:t>, </a:t>
            </a:r>
            <a:r>
              <a:rPr sz="1200"/>
              <a:t>DEMO-506</a:t>
            </a:r>
            <a:r>
              <a:rPr sz="1200"/>
              <a:t>, </a:t>
            </a:r>
            <a:r>
              <a:rPr sz="1200"/>
              <a:t>DEMO-580</a:t>
            </a:r>
            <a:r>
              <a:rPr sz="1200"/>
              <a:t>, </a:t>
            </a:r>
            <a:r>
              <a:rPr sz="1200"/>
              <a:t>DEMO-602</a:t>
            </a:r>
            <a:r>
              <a:rPr sz="1200"/>
              <a:t>, </a:t>
            </a:r>
            <a:r>
              <a:rPr sz="1200"/>
              <a:t>DEMO-644</a:t>
            </a:r>
            <a:r>
              <a:rPr sz="1200"/>
              <a:t>, </a:t>
            </a:r>
            <a:r>
              <a:rPr sz="1200"/>
              <a:t>DEMO-647</a:t>
            </a:r>
            <a:r>
              <a:rPr sz="1200"/>
              <a:t>, </a:t>
            </a:r>
            <a:r>
              <a:rPr sz="1200"/>
              <a:t>DEMO-653</a:t>
            </a:r>
            <a:r>
              <a:rPr sz="1200"/>
              <a:t>, </a:t>
            </a:r>
            <a:r>
              <a:rPr sz="1200"/>
              <a:t>DEMO-683</a:t>
            </a:r>
            <a:r>
              <a:rPr sz="1200"/>
              <a:t>, </a:t>
            </a:r>
            <a:r>
              <a:rPr sz="1200"/>
              <a:t>DEMO-709</a:t>
            </a:r>
            <a:r>
              <a:rPr sz="1200"/>
              <a:t>, </a:t>
            </a:r>
            <a:r>
              <a:rPr sz="1200"/>
              <a:t>DEMO-766</a:t>
            </a:r>
            <a:r>
              <a:rPr sz="1200"/>
              <a:t>, </a:t>
            </a:r>
            <a:r>
              <a:rPr sz="1200"/>
              <a:t>DEMO-788</a:t>
            </a:r>
            <a:r>
              <a:rPr sz="1200"/>
              <a:t>, </a:t>
            </a:r>
            <a:r>
              <a:rPr sz="1200"/>
              <a:t>DEMO-847</a:t>
            </a:r>
            <a:r>
              <a:rPr sz="1200"/>
              <a:t>, </a:t>
            </a:r>
            <a:r>
              <a:rPr sz="1200"/>
              <a:t>DEMO-881</a:t>
            </a:r>
            <a:r>
              <a:rPr sz="1200"/>
              <a:t>, </a:t>
            </a:r>
            <a:r>
              <a:rPr sz="1200"/>
              <a:t>DEMO-913</a:t>
            </a:r>
            <a:r>
              <a:rPr sz="1200"/>
              <a:t>, </a:t>
            </a:r>
            <a:r>
              <a:rPr sz="1200"/>
              <a:t>DEMO-936</a:t>
            </a:r>
            <a:r>
              <a:rPr sz="1200"/>
              <a:t>, </a:t>
            </a:r>
            <a:r>
              <a:rPr sz="1200"/>
              <a:t>DEMO-956</a:t>
            </a:r>
            <a:r>
              <a:rPr sz="1200"/>
              <a:t>, </a:t>
            </a:r>
            <a:r>
              <a:rPr sz="1200"/>
              <a:t>DEMO-961</a:t>
            </a:r>
            <a:r>
              <a:rPr sz="1200"/>
              <a:t>, </a:t>
            </a:r>
            <a:r>
              <a:rPr sz="1200"/>
              <a:t>DEMO-1006</a:t>
            </a:r>
            <a:r>
              <a:rPr sz="1200"/>
              <a:t>, </a:t>
            </a:r>
            <a:r>
              <a:rPr sz="1200"/>
              <a:t>DEMO-1013</a:t>
            </a:r>
            <a:r>
              <a:rPr sz="1200"/>
              <a:t>, </a:t>
            </a:r>
            <a:r>
              <a:rPr sz="1200"/>
              <a:t>DEMO-1051</a:t>
            </a:r>
            <a:r>
              <a:rPr sz="1200"/>
              <a:t>, </a:t>
            </a:r>
            <a:r>
              <a:rPr sz="1200"/>
              <a:t>DEMO-1070</a:t>
            </a:r>
            <a:r>
              <a:rPr sz="1200"/>
              <a:t>, </a:t>
            </a:r>
            <a:r>
              <a:rPr sz="1200"/>
              <a:t>DEMO-1074</a:t>
            </a:r>
            <a:r>
              <a:rPr sz="1200"/>
              <a:t>, </a:t>
            </a:r>
            <a:r>
              <a:rPr sz="1200"/>
              <a:t>DEMO-1093</a:t>
            </a:r>
            <a:r>
              <a:rPr sz="1200"/>
              <a:t>, </a:t>
            </a:r>
            <a:r>
              <a:rPr sz="1200"/>
              <a:t>DEMO-1106</a:t>
            </a:r>
            <a:r>
              <a:rPr sz="1200"/>
              <a:t>, </a:t>
            </a:r>
            <a:r>
              <a:rPr sz="1200"/>
              <a:t>DEMO-1114</a:t>
            </a:r>
            <a:r>
              <a:rPr sz="1200"/>
              <a:t>, </a:t>
            </a:r>
            <a:r>
              <a:rPr sz="1200"/>
              <a:t>DEMO-1124</a:t>
            </a:r>
            <a:r>
              <a:rPr sz="1200"/>
              <a:t>, </a:t>
            </a:r>
            <a:r>
              <a:rPr sz="1200"/>
              <a:t>DEMO-1127</a:t>
            </a:r>
            <a:r>
              <a:rPr sz="1200"/>
              <a:t>, </a:t>
            </a:r>
            <a:r>
              <a:rPr sz="1200"/>
              <a:t>DEMO-1188</a:t>
            </a:r>
            <a:r>
              <a:rPr sz="1200"/>
              <a:t>, </a:t>
            </a:r>
            <a:r>
              <a:rPr sz="1200"/>
              <a:t>DEMO-1204</a:t>
            </a:r>
            <a:r>
              <a:rPr sz="1200"/>
              <a:t>, </a:t>
            </a:r>
            <a:r>
              <a:rPr sz="1200"/>
              <a:t>DEMO-1215</a:t>
            </a:r>
            <a:r>
              <a:rPr sz="1200"/>
              <a:t>, </a:t>
            </a:r>
            <a:r>
              <a:rPr sz="1200"/>
              <a:t>DEMO-1225</a:t>
            </a:r>
            <a:r>
              <a:rPr sz="1200"/>
              <a:t>, </a:t>
            </a:r>
            <a:r>
              <a:rPr sz="1200"/>
              <a:t>DEMO-1275</a:t>
            </a:r>
            <a:r>
              <a:rPr sz="1200"/>
              <a:t>, </a:t>
            </a:r>
            <a:r>
              <a:rPr sz="1200"/>
              <a:t>DEMO-1299</a:t>
            </a:r>
            <a:r>
              <a:rPr sz="1200"/>
              <a:t>, </a:t>
            </a:r>
            <a:r>
              <a:rPr sz="1200"/>
              <a:t>DEMO-1309</a:t>
            </a:r>
            <a:r>
              <a:rPr sz="1200"/>
              <a:t>, </a:t>
            </a:r>
            <a:r>
              <a:rPr sz="1200"/>
              <a:t>DEMO-1358</a:t>
            </a:r>
            <a:r>
              <a:rPr sz="1200"/>
              <a:t>, </a:t>
            </a:r>
            <a:r>
              <a:rPr sz="1200"/>
              <a:t>DEMO-1368</a:t>
            </a:r>
            <a:r>
              <a:rPr sz="1200"/>
              <a:t>, </a:t>
            </a:r>
            <a:r>
              <a:rPr sz="1200"/>
              <a:t>DEMO-1383</a:t>
            </a:r>
            <a:r>
              <a:rPr sz="1200"/>
              <a:t>, </a:t>
            </a:r>
            <a:r>
              <a:rPr sz="1200"/>
              <a:t>DEMO-1384</a:t>
            </a:r>
            <a:r>
              <a:rPr sz="1200"/>
              <a:t>, </a:t>
            </a:r>
            <a:r>
              <a:rPr sz="1200"/>
              <a:t>DEMO-1427</a:t>
            </a:r>
            <a:r>
              <a:rPr sz="1200"/>
              <a:t>, </a:t>
            </a:r>
            <a:r>
              <a:rPr sz="1200"/>
              <a:t>DEMO-1432</a:t>
            </a:r>
            <a:r>
              <a:rPr sz="1200"/>
              <a:t>, </a:t>
            </a:r>
            <a:r>
              <a:rPr sz="1200"/>
              <a:t>DEMO-1436</a:t>
            </a:r>
            <a:r>
              <a:rPr sz="1200"/>
              <a:t>, </a:t>
            </a:r>
            <a:r>
              <a:rPr sz="1200"/>
              <a:t>DEMO-1454</a:t>
            </a:r>
            <a:r>
              <a:rPr sz="1200"/>
              <a:t>, </a:t>
            </a:r>
            <a:r>
              <a:rPr sz="1200"/>
              <a:t>DEMO-1464</a:t>
            </a:r>
            <a:r>
              <a:rPr sz="1200"/>
              <a:t>, </a:t>
            </a:r>
            <a:r>
              <a:rPr sz="1200"/>
              <a:t>DEMO-1469</a:t>
            </a:r>
            <a:r>
              <a:rPr sz="1200"/>
              <a:t>, </a:t>
            </a:r>
            <a:r>
              <a:rPr sz="1200"/>
              <a:t>DEMO-1471</a:t>
            </a:r>
            <a:r>
              <a:rPr sz="1200"/>
              <a:t>, </a:t>
            </a:r>
            <a:r>
              <a:rPr sz="1200"/>
              <a:t>DEMO-1489</a:t>
            </a:r>
            <a:r>
              <a:rPr sz="1200"/>
              <a:t>, </a:t>
            </a:r>
            <a:r>
              <a:rPr sz="1200"/>
              <a:t>DEMO-1494</a:t>
            </a:r>
            <a:r>
              <a:rPr sz="1200"/>
              <a:t>, </a:t>
            </a:r>
            <a:r>
              <a:rPr sz="1200"/>
              <a:t>DEMO-1553</a:t>
            </a:r>
            <a:r>
              <a:rPr sz="1200"/>
              <a:t>, </a:t>
            </a:r>
            <a:r>
              <a:rPr sz="1200"/>
              <a:t>DEMO-1555</a:t>
            </a:r>
            <a:r>
              <a:rPr sz="1200"/>
              <a:t>, </a:t>
            </a:r>
            <a:r>
              <a:rPr sz="1200"/>
              <a:t>DEMO-1571</a:t>
            </a:r>
            <a:r>
              <a:rPr sz="1200"/>
              <a:t>, </a:t>
            </a:r>
            <a:r>
              <a:rPr sz="1200"/>
              <a:t>DEMO-1583</a:t>
            </a:r>
            <a:r>
              <a:rPr sz="1200"/>
              <a:t>, </a:t>
            </a:r>
            <a:r>
              <a:rPr sz="1200"/>
              <a:t>DEMO-1597</a:t>
            </a:r>
            <a:r>
              <a:rPr sz="1200"/>
              <a:t>, </a:t>
            </a:r>
            <a:r>
              <a:rPr sz="1200"/>
              <a:t>DEMO-1599</a:t>
            </a:r>
            <a:r>
              <a:rPr sz="1200"/>
              <a:t>, </a:t>
            </a:r>
            <a:r>
              <a:rPr sz="1200"/>
              <a:t>DEMO-1613</a:t>
            </a:r>
            <a:r>
              <a:rPr sz="1200"/>
              <a:t>, </a:t>
            </a:r>
            <a:r>
              <a:rPr sz="1200"/>
              <a:t>DEMO-1649</a:t>
            </a:r>
            <a:r>
              <a:rPr sz="1200"/>
              <a:t>, </a:t>
            </a:r>
            <a:r>
              <a:rPr sz="1200"/>
              <a:t>DEMO-1654</a:t>
            </a:r>
            <a:r>
              <a:rPr sz="1200"/>
              <a:t>, </a:t>
            </a:r>
            <a:r>
              <a:rPr sz="1200"/>
              <a:t>DEMO-1663</a:t>
            </a:r>
            <a:r>
              <a:rPr sz="1200"/>
              <a:t>, </a:t>
            </a:r>
            <a:r>
              <a:rPr sz="1200"/>
              <a:t>DEMO-1671</a:t>
            </a:r>
            <a:r>
              <a:rPr sz="1200"/>
              <a:t>, </a:t>
            </a:r>
            <a:r>
              <a:rPr sz="1200"/>
              <a:t>DEMO-1692</a:t>
            </a:r>
            <a:r>
              <a:rPr sz="1200"/>
              <a:t>, </a:t>
            </a:r>
            <a:r>
              <a:rPr sz="1200"/>
              <a:t>DEMO-1733</a:t>
            </a:r>
            <a:r>
              <a:rPr sz="1200"/>
              <a:t>, </a:t>
            </a:r>
            <a:r>
              <a:rPr sz="1200"/>
              <a:t>DEMO-1755</a:t>
            </a:r>
            <a:r>
              <a:rPr sz="1200"/>
              <a:t>, </a:t>
            </a:r>
            <a:r>
              <a:rPr sz="1200"/>
              <a:t>DEMO-1768</a:t>
            </a:r>
            <a:r>
              <a:rPr sz="1200"/>
              <a:t>, </a:t>
            </a:r>
            <a:r>
              <a:rPr sz="1200"/>
              <a:t>DEMO-1785</a:t>
            </a:r>
            <a:r>
              <a:rPr sz="1200"/>
              <a:t>, </a:t>
            </a:r>
            <a:r>
              <a:rPr sz="1200"/>
              <a:t>DEMO-1812</a:t>
            </a:r>
            <a:r>
              <a:rPr sz="1200"/>
              <a:t>, </a:t>
            </a:r>
            <a:r>
              <a:rPr sz="1200"/>
              <a:t>DEMO-1859</a:t>
            </a:r>
            <a:r>
              <a:rPr sz="1200"/>
              <a:t>, </a:t>
            </a:r>
            <a:r>
              <a:rPr sz="1200"/>
              <a:t>DEMO-1874</a:t>
            </a:r>
            <a:r>
              <a:rPr sz="1200"/>
              <a:t>, </a:t>
            </a:r>
            <a:r>
              <a:rPr sz="1200"/>
              <a:t>DEMO-1889</a:t>
            </a:r>
            <a:r>
              <a:rPr sz="1200"/>
              <a:t>, </a:t>
            </a:r>
            <a:r>
              <a:rPr sz="1200"/>
              <a:t>DEMO-1935</a:t>
            </a:r>
            <a:r>
              <a:rPr sz="1200"/>
              <a:t>, </a:t>
            </a:r>
            <a:r>
              <a:rPr sz="1200"/>
              <a:t>DEMO-1938</a:t>
            </a:r>
            <a:r>
              <a:rPr sz="1200"/>
              <a:t>, </a:t>
            </a:r>
            <a:r>
              <a:rPr sz="1200"/>
              <a:t>DEMO-1984</a:t>
            </a:r>
            <a:r>
              <a:rPr sz="1200"/>
              <a:t>, </a:t>
            </a:r>
            <a:r>
              <a:rPr sz="1200"/>
              <a:t>DEMO-1990</a:t>
            </a:r>
            <a:r>
              <a:rPr sz="1200"/>
              <a:t>, </a:t>
            </a:r>
            <a:r>
              <a:rPr sz="1200"/>
              <a:t>DEMO-2017</a:t>
            </a:r>
            <a:r>
              <a:rPr sz="1200"/>
              <a:t>, </a:t>
            </a:r>
            <a:r>
              <a:rPr sz="1200"/>
              <a:t>DEMO-2037</a:t>
            </a:r>
            <a:r>
              <a:rPr sz="1200"/>
              <a:t>, </a:t>
            </a:r>
            <a:r>
              <a:rPr sz="1200"/>
              <a:t>DEMO-2055</a:t>
            </a:r>
            <a:r>
              <a:rPr sz="1200"/>
              <a:t>, </a:t>
            </a:r>
            <a:r>
              <a:rPr sz="1200"/>
              <a:t>DEMO-2058</a:t>
            </a:r>
            <a:r>
              <a:rPr sz="1200"/>
              <a:t>, </a:t>
            </a:r>
            <a:r>
              <a:rPr sz="1200"/>
              <a:t>DEMO-2063</a:t>
            </a:r>
            <a:r>
              <a:rPr sz="1200"/>
              <a:t>, </a:t>
            </a:r>
            <a:r>
              <a:rPr sz="1200"/>
              <a:t>DEMO-2068</a:t>
            </a:r>
            <a:r>
              <a:rPr sz="1200"/>
              <a:t>, </a:t>
            </a:r>
            <a:r>
              <a:rPr sz="1200"/>
              <a:t>DEMO-2078</a:t>
            </a:r>
            <a:r>
              <a:rPr sz="1200"/>
              <a:t>, </a:t>
            </a:r>
            <a:r>
              <a:rPr sz="1200"/>
              <a:t>DEMO-2091</a:t>
            </a:r>
            <a:r>
              <a:rPr sz="1200"/>
              <a:t>, </a:t>
            </a:r>
            <a:r>
              <a:rPr sz="1200"/>
              <a:t>DEMO-2098</a:t>
            </a:r>
            <a:r>
              <a:rPr sz="1200"/>
              <a:t>, </a:t>
            </a:r>
            <a:r>
              <a:rPr sz="1200"/>
              <a:t>DEMO-2104</a:t>
            </a:r>
            <a:r>
              <a:rPr sz="1200"/>
              <a:t>, </a:t>
            </a:r>
            <a:r>
              <a:rPr sz="1200"/>
              <a:t>DEMO-2110</a:t>
            </a:r>
            <a:r>
              <a:rPr sz="1200"/>
              <a:t>, </a:t>
            </a:r>
            <a:r>
              <a:rPr sz="1200"/>
              <a:t>DEMO-2111</a:t>
            </a:r>
            <a:r>
              <a:rPr sz="1200"/>
              <a:t>, </a:t>
            </a:r>
            <a:r>
              <a:rPr sz="1200"/>
              <a:t>DEMO-2125</a:t>
            </a:r>
            <a:r>
              <a:rPr sz="1200"/>
              <a:t>, </a:t>
            </a:r>
            <a:r>
              <a:rPr sz="1200"/>
              <a:t>DEMO-2143</a:t>
            </a:r>
            <a:r>
              <a:rPr sz="1200"/>
              <a:t>, </a:t>
            </a:r>
            <a:r>
              <a:rPr sz="1200"/>
              <a:t>DEMO-2253</a:t>
            </a:r>
            <a:r>
              <a:rPr sz="1200"/>
              <a:t>, </a:t>
            </a:r>
            <a:r>
              <a:rPr sz="1200"/>
              <a:t>DEMO-2288</a:t>
            </a:r>
            <a:r>
              <a:rPr sz="1200"/>
              <a:t>, </a:t>
            </a:r>
            <a:r>
              <a:rPr sz="1200"/>
              <a:t>DEMO-2298</a:t>
            </a:r>
            <a:r>
              <a:rPr sz="1200"/>
              <a:t>, </a:t>
            </a:r>
            <a:r>
              <a:rPr sz="1200"/>
              <a:t>DEMO-2306</a:t>
            </a:r>
            <a:r>
              <a:rPr sz="1200"/>
              <a:t>, </a:t>
            </a:r>
            <a:r>
              <a:rPr sz="1200"/>
              <a:t>DEMO-2328</a:t>
            </a:r>
            <a:r>
              <a:rPr sz="1200"/>
              <a:t>, </a:t>
            </a:r>
            <a:r>
              <a:rPr sz="1200"/>
              <a:t>DEMO-2337</a:t>
            </a:r>
            <a:r>
              <a:rPr sz="1200"/>
              <a:t>, </a:t>
            </a:r>
            <a:r>
              <a:rPr sz="1200"/>
              <a:t>DEMO-2374</a:t>
            </a:r>
            <a:r>
              <a:rPr sz="1200"/>
              <a:t>, </a:t>
            </a:r>
            <a:r>
              <a:rPr sz="1200"/>
              <a:t>DEMO-2383</a:t>
            </a:r>
            <a:r>
              <a:rPr sz="1200"/>
              <a:t>, </a:t>
            </a:r>
            <a:r>
              <a:rPr sz="1200"/>
              <a:t>DEMO-2385</a:t>
            </a:r>
            <a:r>
              <a:rPr sz="1200"/>
              <a:t>, </a:t>
            </a:r>
            <a:r>
              <a:rPr sz="1200"/>
              <a:t>DEMO-2396</a:t>
            </a:r>
            <a:r>
              <a:rPr sz="1200"/>
              <a:t>, </a:t>
            </a:r>
            <a:r>
              <a:rPr sz="1200"/>
              <a:t>DEMO-2407</a:t>
            </a:r>
            <a:r>
              <a:rPr sz="1200"/>
              <a:t>, </a:t>
            </a:r>
            <a:r>
              <a:rPr sz="1200"/>
              <a:t>DEMO-2417</a:t>
            </a:r>
            <a:r>
              <a:rPr sz="1200"/>
              <a:t>, </a:t>
            </a:r>
            <a:r>
              <a:rPr sz="1200"/>
              <a:t>DEMO-2425</a:t>
            </a:r>
            <a:r>
              <a:rPr sz="1200"/>
              <a:t>, </a:t>
            </a:r>
            <a:r>
              <a:rPr sz="1200"/>
              <a:t>DEMO-2464</a:t>
            </a:r>
            <a:r>
              <a:rPr sz="1200"/>
              <a:t>, </a:t>
            </a:r>
            <a:r>
              <a:rPr sz="1200"/>
              <a:t>DEMO-2482</a:t>
            </a:r>
            <a:r>
              <a:rPr sz="1200"/>
              <a:t>, </a:t>
            </a:r>
            <a:r>
              <a:rPr sz="1200"/>
              <a:t>DEMO-2517</a:t>
            </a:r>
            <a:r>
              <a:rPr sz="1200"/>
              <a:t>, </a:t>
            </a:r>
            <a:r>
              <a:rPr sz="1200"/>
              <a:t>DEMO-2530</a:t>
            </a:r>
            <a:r>
              <a:rPr sz="1200"/>
              <a:t>, </a:t>
            </a:r>
            <a:r>
              <a:rPr sz="1200"/>
              <a:t>DEMO-2537</a:t>
            </a:r>
            <a:r>
              <a:rPr sz="1200"/>
              <a:t>, </a:t>
            </a:r>
            <a:r>
              <a:rPr sz="1200"/>
              <a:t>DEMO-2538</a:t>
            </a:r>
            <a:r>
              <a:rPr sz="1200"/>
              <a:t>, </a:t>
            </a:r>
            <a:r>
              <a:rPr sz="1200"/>
              <a:t>DEMO-2543</a:t>
            </a:r>
            <a:r>
              <a:rPr sz="1200"/>
              <a:t>, </a:t>
            </a:r>
            <a:r>
              <a:rPr sz="1200"/>
              <a:t>DEMO-2555</a:t>
            </a:r>
            <a:r>
              <a:rPr sz="1200"/>
              <a:t>, </a:t>
            </a:r>
            <a:r>
              <a:rPr sz="1200"/>
              <a:t>DEMO-2557</a:t>
            </a:r>
            <a:r>
              <a:rPr sz="1200"/>
              <a:t>, </a:t>
            </a:r>
            <a:r>
              <a:rPr sz="1200"/>
              <a:t>DEMO-2591</a:t>
            </a:r>
            <a:r>
              <a:rPr sz="1200"/>
              <a:t>, </a:t>
            </a:r>
            <a:r>
              <a:rPr sz="1200"/>
              <a:t>DEMO-2600</a:t>
            </a:r>
            <a:r>
              <a:rPr sz="1200"/>
              <a:t>, </a:t>
            </a:r>
            <a:r>
              <a:rPr sz="1200"/>
              <a:t>DEMO-2606</a:t>
            </a:r>
            <a:r>
              <a:rPr sz="1200"/>
              <a:t>, </a:t>
            </a:r>
            <a:r>
              <a:rPr sz="1200"/>
              <a:t>DEMO-2615</a:t>
            </a:r>
            <a:r>
              <a:rPr sz="1200"/>
              <a:t>, </a:t>
            </a:r>
            <a:r>
              <a:rPr sz="1200"/>
              <a:t>DEMO-2621</a:t>
            </a:r>
            <a:r>
              <a:rPr sz="1200"/>
              <a:t>, </a:t>
            </a:r>
            <a:r>
              <a:rPr sz="1200"/>
              <a:t>DEMO-2630</a:t>
            </a:r>
            <a:r>
              <a:rPr sz="1200"/>
              <a:t>, </a:t>
            </a:r>
            <a:r>
              <a:rPr sz="1200"/>
              <a:t>DEMO-2635</a:t>
            </a:r>
            <a:r>
              <a:rPr sz="1200"/>
              <a:t>, </a:t>
            </a:r>
            <a:r>
              <a:rPr sz="1200"/>
              <a:t>DEMO-2643</a:t>
            </a:r>
            <a:r>
              <a:rPr sz="1200"/>
              <a:t>, </a:t>
            </a:r>
            <a:r>
              <a:rPr sz="1200"/>
              <a:t>DEMO-2663</a:t>
            </a:r>
            <a:r>
              <a:rPr sz="1200"/>
              <a:t>, </a:t>
            </a:r>
            <a:r>
              <a:rPr sz="1200"/>
              <a:t>DEMO-2677</a:t>
            </a:r>
            <a:r>
              <a:rPr sz="1200"/>
              <a:t>, </a:t>
            </a:r>
            <a:r>
              <a:rPr sz="1200"/>
              <a:t>DEMO-2681</a:t>
            </a:r>
            <a:r>
              <a:rPr sz="1200"/>
              <a:t>, </a:t>
            </a:r>
            <a:r>
              <a:rPr sz="1200"/>
              <a:t>DEMO-2688</a:t>
            </a:r>
            <a:r>
              <a:rPr sz="1200"/>
              <a:t>, </a:t>
            </a:r>
            <a:r>
              <a:rPr sz="1200"/>
              <a:t>DEMO-2702</a:t>
            </a:r>
            <a:r>
              <a:rPr sz="1200"/>
              <a:t>, </a:t>
            </a:r>
            <a:r>
              <a:rPr sz="1200"/>
              <a:t>DEMO-2722</a:t>
            </a:r>
            <a:r>
              <a:rPr sz="1200"/>
              <a:t>, </a:t>
            </a:r>
            <a:r>
              <a:rPr sz="1200"/>
              <a:t>DEMO-2726</a:t>
            </a:r>
            <a:r>
              <a:rPr sz="1200"/>
              <a:t>, </a:t>
            </a:r>
            <a:r>
              <a:rPr sz="1200"/>
              <a:t>DEMO-2729</a:t>
            </a:r>
            <a:r>
              <a:rPr sz="1200"/>
              <a:t>, </a:t>
            </a:r>
            <a:r>
              <a:rPr sz="1200"/>
              <a:t>DEMO-2756</a:t>
            </a:r>
            <a:r>
              <a:rPr sz="1200"/>
              <a:t>, </a:t>
            </a:r>
            <a:r>
              <a:rPr sz="1200"/>
              <a:t>DEMO-2758</a:t>
            </a:r>
            <a:r>
              <a:rPr sz="1200"/>
              <a:t>, </a:t>
            </a:r>
            <a:r>
              <a:rPr sz="1200"/>
              <a:t>DEMO-2766</a:t>
            </a:r>
            <a:r>
              <a:rPr sz="1200"/>
              <a:t>, </a:t>
            </a:r>
            <a:r>
              <a:rPr sz="1200"/>
              <a:t>DEMO-2795</a:t>
            </a:r>
            <a:r>
              <a:rPr sz="1200"/>
              <a:t>, </a:t>
            </a:r>
            <a:r>
              <a:rPr sz="1200"/>
              <a:t>DEMO-2804</a:t>
            </a:r>
            <a:r>
              <a:rPr sz="1200"/>
              <a:t>, </a:t>
            </a:r>
            <a:r>
              <a:rPr sz="1200"/>
              <a:t>DEMO-2810</a:t>
            </a:r>
            <a:r>
              <a:rPr sz="1200"/>
              <a:t>, </a:t>
            </a:r>
            <a:r>
              <a:rPr sz="1200"/>
              <a:t>DEMO-2826</a:t>
            </a:r>
            <a:r>
              <a:rPr sz="1200"/>
              <a:t>, </a:t>
            </a:r>
            <a:r>
              <a:rPr sz="1200"/>
              <a:t>DEMO-2835</a:t>
            </a:r>
            <a:r>
              <a:rPr sz="1200"/>
              <a:t>, </a:t>
            </a:r>
            <a:r>
              <a:rPr sz="1200"/>
              <a:t>DEMO-2870</a:t>
            </a:r>
            <a:r>
              <a:rPr sz="1200"/>
              <a:t>, </a:t>
            </a:r>
            <a:r>
              <a:rPr sz="1200"/>
              <a:t>DEMO-2923</a:t>
            </a:r>
            <a:r>
              <a:rPr sz="1200"/>
              <a:t>, </a:t>
            </a:r>
            <a:r>
              <a:rPr sz="1200"/>
              <a:t>DEMO-2932</a:t>
            </a:r>
            <a:r>
              <a:rPr sz="1200"/>
              <a:t>, </a:t>
            </a:r>
            <a:r>
              <a:rPr sz="1200"/>
              <a:t>DEMO-2938</a:t>
            </a:r>
            <a:r>
              <a:rPr sz="1200"/>
              <a:t>, </a:t>
            </a:r>
            <a:r>
              <a:rPr sz="1200"/>
              <a:t>DEMO-2960</a:t>
            </a:r>
            <a:r>
              <a:rPr sz="1200"/>
              <a:t>, </a:t>
            </a:r>
            <a:r>
              <a:rPr sz="1200"/>
              <a:t>DEMO-2973</a:t>
            </a:r>
            <a:r>
              <a:rPr sz="1200"/>
              <a:t>, </a:t>
            </a:r>
            <a:r>
              <a:rPr sz="1200"/>
              <a:t>DEMO-2983</a:t>
            </a:r>
            <a:r>
              <a:rPr sz="1200"/>
              <a:t>, </a:t>
            </a:r>
            <a:r>
              <a:rPr sz="1200"/>
              <a:t>DEMO-2994</a:t>
            </a:r>
            <a:r>
              <a:rPr sz="1200"/>
              <a:t>, </a:t>
            </a:r>
            <a:r>
              <a:rPr sz="1200"/>
              <a:t>DEMO-3011</a:t>
            </a:r>
            <a:r>
              <a:rPr sz="1200"/>
              <a:t>, </a:t>
            </a:r>
            <a:r>
              <a:rPr sz="1200"/>
              <a:t>DEMO-3029</a:t>
            </a:r>
            <a:r>
              <a:rPr sz="1200"/>
              <a:t>, </a:t>
            </a:r>
            <a:r>
              <a:rPr sz="1200"/>
              <a:t>DEMO-3033</a:t>
            </a:r>
            <a:r>
              <a:rPr sz="1200"/>
              <a:t>, </a:t>
            </a:r>
            <a:r>
              <a:rPr sz="1200"/>
              <a:t>DEMO-3040</a:t>
            </a:r>
            <a:r>
              <a:rPr sz="1200"/>
              <a:t>, </a:t>
            </a:r>
            <a:r>
              <a:rPr sz="1200"/>
              <a:t>DEMO-3055</a:t>
            </a:r>
            <a:r>
              <a:rPr sz="1200"/>
              <a:t>, </a:t>
            </a:r>
            <a:r>
              <a:rPr sz="1200"/>
              <a:t>DEMO-3068</a:t>
            </a:r>
            <a:r>
              <a:rPr sz="1200"/>
              <a:t>, </a:t>
            </a:r>
            <a:r>
              <a:rPr sz="1200"/>
              <a:t>DEMO-3069</a:t>
            </a:r>
            <a:r>
              <a:rPr sz="1200"/>
              <a:t>, </a:t>
            </a:r>
            <a:r>
              <a:rPr sz="1200"/>
              <a:t>DEMO-3072</a:t>
            </a:r>
            <a:r>
              <a:rPr sz="1200"/>
              <a:t>, </a:t>
            </a:r>
            <a:r>
              <a:rPr sz="1200"/>
              <a:t>DEMO-3084</a:t>
            </a:r>
            <a:r>
              <a:rPr sz="1200"/>
              <a:t>, </a:t>
            </a:r>
            <a:r>
              <a:rPr sz="1200"/>
              <a:t>DEMO-3103</a:t>
            </a:r>
            <a:r>
              <a:rPr sz="1200"/>
              <a:t>, </a:t>
            </a:r>
            <a:r>
              <a:rPr sz="1200"/>
              <a:t>DEMO-3104</a:t>
            </a:r>
            <a:r>
              <a:rPr sz="1200"/>
              <a:t>, </a:t>
            </a:r>
            <a:r>
              <a:rPr sz="1200"/>
              <a:t>DEMO-3105</a:t>
            </a:r>
            <a:r>
              <a:rPr sz="1200"/>
              <a:t>, </a:t>
            </a:r>
            <a:r>
              <a:rPr sz="1200"/>
              <a:t>DEMO-3150</a:t>
            </a:r>
            <a:r>
              <a:rPr sz="1200"/>
              <a:t>, </a:t>
            </a:r>
            <a:r>
              <a:rPr sz="1200"/>
              <a:t>DEMO-3170</a:t>
            </a:r>
            <a:r>
              <a:rPr sz="1200"/>
              <a:t>, </a:t>
            </a:r>
            <a:r>
              <a:rPr sz="1200"/>
              <a:t>DEMO-3180</a:t>
            </a:r>
            <a:r>
              <a:rPr sz="1200"/>
              <a:t>, </a:t>
            </a:r>
            <a:r>
              <a:rPr sz="1200"/>
              <a:t>DEMO-3183</a:t>
            </a:r>
            <a:r>
              <a:rPr sz="1200"/>
              <a:t>, </a:t>
            </a:r>
            <a:r>
              <a:rPr sz="1200"/>
              <a:t>DEMO-3206</a:t>
            </a:r>
            <a:r>
              <a:rPr sz="1200"/>
              <a:t>, </a:t>
            </a:r>
            <a:r>
              <a:rPr sz="1200"/>
              <a:t>DEMO-3250</a:t>
            </a:r>
            <a:r>
              <a:rPr sz="1200"/>
              <a:t>, </a:t>
            </a:r>
            <a:r>
              <a:rPr sz="1200"/>
              <a:t>DEMO-3252</a:t>
            </a:r>
            <a:r>
              <a:rPr sz="1200"/>
              <a:t>, </a:t>
            </a:r>
            <a:r>
              <a:rPr sz="1200"/>
              <a:t>DEMO-3257</a:t>
            </a:r>
            <a:r>
              <a:rPr sz="1200"/>
              <a:t>, </a:t>
            </a:r>
            <a:r>
              <a:rPr sz="1200"/>
              <a:t>DEMO-3266</a:t>
            </a:r>
            <a:r>
              <a:rPr sz="1200"/>
              <a:t>, </a:t>
            </a:r>
            <a:r>
              <a:rPr sz="1200"/>
              <a:t>DEMO-3269</a:t>
            </a:r>
            <a:r>
              <a:rPr sz="1200"/>
              <a:t>, </a:t>
            </a:r>
            <a:r>
              <a:rPr sz="1200"/>
              <a:t>DEMO-3272</a:t>
            </a:r>
            <a:r>
              <a:rPr sz="1200"/>
              <a:t>, </a:t>
            </a:r>
            <a:r>
              <a:rPr sz="1200"/>
              <a:t>DEMO-3276</a:t>
            </a:r>
            <a:r>
              <a:rPr sz="1200"/>
              <a:t>, </a:t>
            </a:r>
            <a:r>
              <a:rPr sz="1200"/>
              <a:t>DEMO-3285</a:t>
            </a:r>
            <a:r>
              <a:rPr sz="1200"/>
              <a:t>, </a:t>
            </a:r>
            <a:r>
              <a:rPr sz="1200"/>
              <a:t>DEMO-3297</a:t>
            </a:r>
            <a:r>
              <a:rPr sz="1200"/>
              <a:t>, </a:t>
            </a:r>
            <a:r>
              <a:rPr sz="1200"/>
              <a:t>DEMO-3306</a:t>
            </a:r>
            <a:r>
              <a:rPr sz="1200"/>
              <a:t>, </a:t>
            </a:r>
            <a:r>
              <a:rPr sz="1200"/>
              <a:t>DEMO-3315</a:t>
            </a:r>
            <a:r>
              <a:rPr sz="1200"/>
              <a:t>, </a:t>
            </a:r>
            <a:r>
              <a:rPr sz="1200"/>
              <a:t>DEMO-3363</a:t>
            </a:r>
            <a:r>
              <a:rPr sz="1200"/>
              <a:t>, </a:t>
            </a:r>
            <a:r>
              <a:rPr sz="1200"/>
              <a:t>DEMO-3374</a:t>
            </a:r>
            <a:r>
              <a:rPr sz="1200"/>
              <a:t>, </a:t>
            </a:r>
            <a:r>
              <a:rPr sz="1200"/>
              <a:t>DEMO-1324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000000"/>
          <a:ext cx="5538800" cy="2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1040"/>
                <a:gridCol w="1107760"/>
              </a:tblGrid>
              <a:tr h="250000">
                <a:tc>
                  <a:txBody>
                    <a:bodyPr/>
                    <a:lstStyle/>
                    <a:p>
                      <a:r>
                        <a:rPr sz="900" b="1"/>
                        <a:t>KPI clé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Valeur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533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 par gravité — Bloquante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 par gravité — Majeure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171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Entrées d'Anomalies, Fenêtre glissante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102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Sorties d'Anomalies, Fenêtre glissante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Âge médian des Anomalies ouvertes (Jours ouvrés)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Âge maximal des Anomalies ouvertes (Jours ouvrés)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Migration à blanc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0 %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TNR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96000" y="1500000"/>
            <a:ext cx="55388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Brouillon de commentaire</a:t>
            </a:r>
          </a:p>
          <a:p>
            <a:r>
              <a:rPr sz="1200"/>
              <a:t>commentaire non généré (Palier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6000" y="3900000"/>
            <a:ext cx="55388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Prévision</a:t>
            </a:r>
          </a:p>
          <a:p>
            <a:r>
              <a:rPr sz="1200"/>
              <a:t>Sortie du rouge non projetable (règle IND-2, IND-3, IND-5)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ENT-C — Orange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00000"/>
            <a:ext cx="55388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Règles déclenchantes</a:t>
            </a:r>
          </a:p>
          <a:p>
            <a:r>
              <a:rPr sz="1200"/>
              <a:t>IND-4 : 16,7 % (seuil ≥ 10 %)</a:t>
            </a:r>
          </a:p>
          <a:p>
            <a:r>
              <a:rPr sz="1200"/>
              <a:t>Tickets en cause : </a:t>
            </a:r>
            <a:r>
              <a:rPr sz="1200"/>
              <a:t>DEMO-2293</a:t>
            </a:r>
            <a:r>
              <a:rPr sz="1200"/>
              <a:t>, </a:t>
            </a:r>
            <a:r>
              <a:rPr sz="1200"/>
              <a:t>DEMO-2484</a:t>
            </a:r>
            <a:r>
              <a:rPr sz="1200"/>
              <a:t>, </a:t>
            </a:r>
            <a:r>
              <a:rPr sz="1200"/>
              <a:t>DEMO-2529</a:t>
            </a:r>
            <a:r>
              <a:rPr sz="1200"/>
              <a:t>, </a:t>
            </a:r>
            <a:r>
              <a:rPr sz="1200"/>
              <a:t>DEMO-2544</a:t>
            </a:r>
            <a:r>
              <a:rPr sz="1200"/>
              <a:t>, </a:t>
            </a:r>
            <a:r>
              <a:rPr sz="1200"/>
              <a:t>DEMO-2545</a:t>
            </a:r>
            <a:r>
              <a:rPr sz="1200"/>
              <a:t>, </a:t>
            </a:r>
            <a:r>
              <a:rPr sz="1200"/>
              <a:t>DEMO-2721</a:t>
            </a:r>
            <a:r>
              <a:rPr sz="1200"/>
              <a:t>, </a:t>
            </a:r>
            <a:r>
              <a:rPr sz="1200"/>
              <a:t>DEMO-2819</a:t>
            </a:r>
            <a:r>
              <a:rPr sz="1200"/>
              <a:t>, </a:t>
            </a:r>
            <a:r>
              <a:rPr sz="1200"/>
              <a:t>DEMO-2869</a:t>
            </a:r>
            <a:r>
              <a:rPr sz="1200"/>
              <a:t>, </a:t>
            </a:r>
            <a:r>
              <a:rPr sz="1200"/>
              <a:t>DEMO-2954</a:t>
            </a:r>
            <a:r>
              <a:rPr sz="1200"/>
              <a:t>, </a:t>
            </a:r>
            <a:r>
              <a:rPr sz="1200"/>
              <a:t>DEMO-2964</a:t>
            </a:r>
            <a:r>
              <a:rPr sz="1200"/>
              <a:t>, </a:t>
            </a:r>
            <a:r>
              <a:rPr sz="1200"/>
              <a:t>DEMO-2966</a:t>
            </a:r>
            <a:r>
              <a:rPr sz="1200"/>
              <a:t>, </a:t>
            </a:r>
            <a:r>
              <a:rPr sz="1200"/>
              <a:t>DEMO-3042</a:t>
            </a:r>
            <a:r>
              <a:rPr sz="1200"/>
              <a:t>, </a:t>
            </a:r>
            <a:r>
              <a:rPr sz="1200"/>
              <a:t>DEMO-3137</a:t>
            </a:r>
            <a:r>
              <a:rPr sz="1200"/>
              <a:t>, </a:t>
            </a:r>
            <a:r>
              <a:rPr sz="1200"/>
              <a:t>DEMO-3220</a:t>
            </a:r>
            <a:r>
              <a:rPr sz="1200"/>
              <a:t>, </a:t>
            </a:r>
            <a:r>
              <a:rPr sz="1200"/>
              <a:t>DEMO-3338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000000"/>
          <a:ext cx="5538800" cy="2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1040"/>
                <a:gridCol w="1107760"/>
              </a:tblGrid>
              <a:tr h="250000">
                <a:tc>
                  <a:txBody>
                    <a:bodyPr/>
                    <a:lstStyle/>
                    <a:p>
                      <a:r>
                        <a:rPr sz="900" b="1"/>
                        <a:t>KPI clé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Valeur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74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 par gravité — Bloquante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Anomalies ouvertes par gravité — Majeure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Entrées d'Anomalies, Fenêtre glissante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39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Sorties d'Anomalies, Fenêtre glissante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33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Âge médian des Anomalies ouvertes (Jours ouvrés)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Âge maximal des Anomalies ouvertes (Jours ouvrés)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Migration à blanc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1,7 %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5,6 %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des Cas de test — TNR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16,7 %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96000" y="1500000"/>
            <a:ext cx="55388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Brouillon de commentaire</a:t>
            </a:r>
          </a:p>
          <a:p>
            <a:r>
              <a:rPr sz="1200"/>
              <a:t>commentaire non généré (Palier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6000" y="3900000"/>
            <a:ext cx="55388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Prévision</a:t>
            </a:r>
          </a:p>
          <a:p>
            <a:r>
              <a:rPr sz="1200"/>
              <a:t>Risque d'entrée en rouge IND-4 : franchissement estimé le 16/10/2026 (valeur 16,7 %, seuil rouge 20 %, horizon 5 Jours ouvrés)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Tendances sur 8 semaines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00000"/>
          <a:ext cx="11277600" cy="3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939800"/>
                <a:gridCol w="939800"/>
                <a:gridCol w="939800"/>
                <a:gridCol w="939800"/>
                <a:gridCol w="939800"/>
                <a:gridCol w="939800"/>
                <a:gridCol w="939800"/>
                <a:gridCol w="939800"/>
              </a:tblGrid>
              <a:tr h="250000">
                <a:tc>
                  <a:txBody>
                    <a:bodyPr/>
                    <a:lstStyle/>
                    <a:p>
                      <a:r>
                        <a:rPr sz="900" b="1"/>
                        <a:t>Série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Semaine au 21/08/2026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Semaine au 28/08/2026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Semaine au 04/09/2026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Semaine au 11/09/2026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Semaine au 18/09/2026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Semaine au 25/09/2026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Semaine au 02/10/2026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Semaine au 09/10/2026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Programme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Bloquantes ouvertes — ENT-J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— Programme — Migration à blanc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1,7 %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1,6 %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6,3 %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6,3 %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6,3 %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6,3 %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6,3 %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— Programme — 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3,3 %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5,5 %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5,5 %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5,4 %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5,3 %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Taux de KO — Programme — TNR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6,7 %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13,3 %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16 %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10 bloquantes les plus anciennes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50000"/>
            <a:ext cx="11277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10 sur 53 bloquantes ouvertes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50000"/>
          <a:ext cx="11277600" cy="36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85"/>
                <a:gridCol w="1611085"/>
                <a:gridCol w="2416628"/>
                <a:gridCol w="2416628"/>
                <a:gridCol w="1611085"/>
                <a:gridCol w="1611089"/>
              </a:tblGrid>
              <a:tr h="330000">
                <a:tc>
                  <a:txBody>
                    <a:bodyPr/>
                    <a:lstStyle/>
                    <a:p>
                      <a:r>
                        <a:rPr sz="1100" b="1"/>
                        <a:t>Clé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Entité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Domaine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Statut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Âge (Jours ouvrés)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à blanc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referentiel_clients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34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DEMO-477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à blanc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comptabilite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34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referentiel_clients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29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DEMO-1023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credits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27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DEMO-1282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credits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24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credits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24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DEMO-1325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referentiel_clients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24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DEMO-1326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comptabilite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23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DEMO-1331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depots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23</a:t>
                      </a:r>
                    </a:p>
                  </a:txBody>
                  <a:tcPr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DEMO-1349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ENT-B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paiements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 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méthode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00000"/>
          <a:ext cx="11277600" cy="2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7507"/>
                <a:gridCol w="5205046"/>
                <a:gridCol w="3470030"/>
                <a:gridCol w="1735017"/>
              </a:tblGrid>
              <a:tr h="250000">
                <a:tc>
                  <a:txBody>
                    <a:bodyPr/>
                    <a:lstStyle/>
                    <a:p>
                      <a:r>
                        <a:rPr sz="900"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Indicateur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Seuils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Version de la Grille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IND-1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Anomalies bloquantes ouvertes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Orange ≥ 1 ; Rouge ≥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IND-2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Âge de la plus ancienne bloquante ouverte (Jours ouvrés)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Orange &gt; 5 ; Rouge &gt;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IND-3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Anomalies majeures ouvertes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Jaune ≥ 5 ; Orange ≥ 10 ; Rouge ≥ 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IND-4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Taux de KO des Cas de test exécutés, Phase 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Jaune ≥ 5 % ; Orange ≥ 10 % ; Rouge ≥ 20 %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IND-5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Certifications refusées (Vague en cours)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Rouge ≥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IND-6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Certifications réservées (Vague en cours)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Jaune ≥ 1 ; Orange ≥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IND-7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Ratio Entrées / Sorties bloquantes et majeures, Fenêtre glissante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Jaune &gt; 1 ; Orange &gt; 1,5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IND-8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Hausse du taux de KO par rapport à J-5 (points)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Jaune ≥ 3 % ; Orange ≥ 5 %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700000"/>
          <a:ext cx="11277600" cy="2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8458200"/>
              </a:tblGrid>
              <a:tr h="250000">
                <a:tc>
                  <a:txBody>
                    <a:bodyPr/>
                    <a:lstStyle/>
                    <a:p>
                      <a:r>
                        <a:rPr sz="900" b="1"/>
                        <a:t>Traçabilité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Valeur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Date d'arrêté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09/10/2026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Palier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Palier 1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journal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Horodatage d'extraction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extraction Jira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Nombre de tickets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3 384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Version de la Grille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c344967e71de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Version des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8c0025b12291697467ff5bf4d24b52fc21674297378578e92cf7e58324c79035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Version du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 (Palier 1)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Version du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sans objet (Palier 1)</a:t>
                      </a:r>
                    </a:p>
                  </a:txBody>
                  <a:tcPr/>
                </a:tc>
              </a:tr>
              <a:tr h="250000">
                <a:tc>
                  <a:txBody>
                    <a:bodyPr/>
                    <a:lstStyle/>
                    <a:p>
                      <a:r>
                        <a:rPr sz="900"/>
                        <a:t>Version des contrats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quotidien du 09/10/2026</dc:title>
  <dc:subject/>
  <dc:creator>Usine de migration (démonstrateur)</dc:creator>
  <cp:keywords/>
  <dc:description>Gabarit fictif du démonstrateur, sans logo ni nom réel.</dc:description>
  <cp:lastModifiedBy>Usine de migration (démonstrateur)</cp:lastModifiedBy>
  <cp:revision>1</cp:revision>
  <dcterms:created xsi:type="dcterms:W3CDTF">2026-10-09T00:00:00Z</dcterms:created>
  <dcterms:modified xsi:type="dcterms:W3CDTF">2026-10-09T00:00:00Z</dcterms:modified>
  <cp:category/>
  <cp:lastPrinted>2026-10-09T00:00:00Z</cp:lastPrinted>
</cp:coreProperties>
</file>