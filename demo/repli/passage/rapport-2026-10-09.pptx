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Rapport quotidien du 09/10/2026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Programme : Banque Exemple — migration SI cœur</a:t>
            </a:r>
          </a:p>
          <a:p>
            <a:r>
              <a:t>Date d'arrêté : 09/10/2026</a:t>
            </a:r>
          </a:p>
          <a:p>
            <a:r>
              <a:t>Périmètre : 10 Entités : ENT-A, ENT-B, ENT-C, ENT-D, ENT-E, ENT-F, ENT-G, ENT-H, ENT-I, ENT-J</a:t>
            </a:r>
          </a:p>
          <a:p>
            <a:r>
              <a:t>Palier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00000"/>
          <a:ext cx="11277600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1127760"/>
                <a:gridCol w="7894320"/>
              </a:tblGrid>
              <a:tr h="330000">
                <a:tc>
                  <a:txBody>
                    <a:bodyPr/>
                    <a:lstStyle/>
                    <a:p>
                      <a:r>
                        <a:rPr sz="1100" b="1"/>
                        <a:t>Couleur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Entités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Rouge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ENT-A, ENT-B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Orange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ENT-C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ENT-E, ENT-F, ENT-G, ENT-H, ENT-I, ENT-J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50000"/>
            <a:ext cx="11277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Changements de Météo</a:t>
            </a:r>
          </a:p>
          <a:p>
            <a:r>
              <a:rPr sz="1400"/>
              <a:t>Depuis J-1 : aucun changement</a:t>
            </a:r>
          </a:p>
          <a:p>
            <a:r>
              <a:rPr sz="1400"/>
              <a:t>Depuis J-5 : aucun changement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00000"/>
            <a:ext cx="11277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Messages clés</a:t>
            </a:r>
          </a:p>
          <a:p>
            <a:r>
              <a:rPr sz="1400"/>
              <a:t>2 Entités en rouge et 1 en orange sur 10</a:t>
            </a:r>
          </a:p>
          <a:p>
            <a:r>
              <a:rPr sz="1400"/>
              <a:t>Aucune Entité n'a changé de Météo depuis J-1</a:t>
            </a:r>
          </a:p>
          <a:p>
            <a:r>
              <a:rPr sz="1400"/>
              <a:t>Anomalies bloquantes ouvertes sur le Programme : 13 ; Entrées et Sorties de la Fenêtre glissante : 438 et 403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Carte météo du 09/10/2026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00000"/>
          <a:ext cx="11277600" cy="36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85"/>
                <a:gridCol w="1611085"/>
                <a:gridCol w="2416628"/>
                <a:gridCol w="5638802"/>
              </a:tblGrid>
              <a:tr h="330000">
                <a:tc>
                  <a:txBody>
                    <a:bodyPr/>
                    <a:lstStyle/>
                    <a:p>
                      <a:r>
                        <a:rPr sz="1100" b="1"/>
                        <a:t>Entité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Météo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Tendance vs J-5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Règle déclenchante principale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Rouge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IND-1 : 4 (seuil ≥ 3)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Rouge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IND-1 : 9 (seuil ≥ 3)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Orange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IND-4 : 18 % (seuil ≥ 10 %)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ENT-J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121"/>
                          </a:solidFill>
                        </a:rPr>
                        <a:t>Jaune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→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IND-6 : 1 (seuil ≥ 1)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ENT-A — Rouge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0000"/>
            <a:ext cx="55388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Règles déclenchantes</a:t>
            </a:r>
          </a:p>
          <a:p>
            <a:r>
              <a:rPr sz="1200"/>
              <a:t>IND-1 : 4 (seuil ≥ 3)</a:t>
            </a:r>
          </a:p>
          <a:p>
            <a:r>
              <a:rPr sz="1200"/>
              <a:t>Tickets en cause : </a:t>
            </a:r>
            <a:r>
              <a:rPr sz="1200"/>
              <a:t>DEMO-3117</a:t>
            </a:r>
            <a:r>
              <a:rPr sz="1200"/>
              <a:t>, </a:t>
            </a:r>
            <a:r>
              <a:rPr sz="1200"/>
              <a:t>DEMO-3234</a:t>
            </a:r>
            <a:r>
              <a:rPr sz="1200"/>
              <a:t>, </a:t>
            </a:r>
            <a:r>
              <a:rPr sz="1200"/>
              <a:t>DEMO-3316</a:t>
            </a:r>
            <a:r>
              <a:rPr sz="1200"/>
              <a:t>, </a:t>
            </a:r>
            <a:r>
              <a:rPr sz="1200"/>
              <a:t>DEMO-3389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000000"/>
          <a:ext cx="55388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040"/>
                <a:gridCol w="1107760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KPI clé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Valeur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Bloquante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Majeure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Entrées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Sorties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39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médian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maximal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22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Migration à blanc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Recette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100 %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6000" y="1500000"/>
            <a:ext cx="55388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Brouillon de commentaire</a:t>
            </a:r>
          </a:p>
          <a:p>
            <a:r>
              <a:rPr sz="1200"/>
              <a:t>commentaire non généré (Palier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6000" y="3900000"/>
            <a:ext cx="55388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Prévision</a:t>
            </a:r>
          </a:p>
          <a:p>
            <a:r>
              <a:rPr sz="1200"/>
              <a:t>Sortie du rouge estimée le 13/10/2026 (fourchette 13/10/2026 – non bornée), probabilité 50 % sous 10 Jours ouvrés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ENT-B — Rouge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0000"/>
            <a:ext cx="55388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Règles déclenchantes</a:t>
            </a:r>
          </a:p>
          <a:p>
            <a:r>
              <a:rPr sz="1200"/>
              <a:t>IND-1 : 9 (seuil ≥ 3)</a:t>
            </a:r>
          </a:p>
          <a:p>
            <a:r>
              <a:rPr sz="1200"/>
              <a:t>Tickets en cause : </a:t>
            </a:r>
            <a:r>
              <a:rPr sz="1200"/>
              <a:t>DEMO-2842</a:t>
            </a:r>
            <a:r>
              <a:rPr sz="1200"/>
              <a:t>, </a:t>
            </a:r>
            <a:r>
              <a:rPr sz="1200"/>
              <a:t>DEMO-2928</a:t>
            </a:r>
            <a:r>
              <a:rPr sz="1200"/>
              <a:t>, </a:t>
            </a:r>
            <a:r>
              <a:rPr sz="1200"/>
              <a:t>DEMO-3079</a:t>
            </a:r>
            <a:r>
              <a:rPr sz="1200"/>
              <a:t>, </a:t>
            </a:r>
            <a:r>
              <a:rPr sz="1200"/>
              <a:t>DEMO-3128</a:t>
            </a:r>
            <a:r>
              <a:rPr sz="1200"/>
              <a:t>, </a:t>
            </a:r>
            <a:r>
              <a:rPr sz="1200"/>
              <a:t>DEMO-3160</a:t>
            </a:r>
            <a:r>
              <a:rPr sz="1200"/>
              <a:t>, </a:t>
            </a:r>
            <a:r>
              <a:rPr sz="1200"/>
              <a:t>DEMO-3232</a:t>
            </a:r>
            <a:r>
              <a:rPr sz="1200"/>
              <a:t>, </a:t>
            </a:r>
            <a:r>
              <a:rPr sz="1200"/>
              <a:t>DEMO-3307</a:t>
            </a:r>
            <a:r>
              <a:rPr sz="1200"/>
              <a:t>, </a:t>
            </a:r>
            <a:r>
              <a:rPr sz="1200"/>
              <a:t>DEMO-3430</a:t>
            </a:r>
            <a:r>
              <a:rPr sz="1200"/>
              <a:t>, </a:t>
            </a:r>
            <a:r>
              <a:rPr sz="1200"/>
              <a:t>DEMO-3450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000000"/>
          <a:ext cx="55388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040"/>
                <a:gridCol w="1107760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KPI clé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Valeur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509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Bloquante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Majeure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Entrées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109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Sorties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65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médian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maximal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Migration à blanc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Recette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6000" y="1500000"/>
            <a:ext cx="55388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Brouillon de commentaire</a:t>
            </a:r>
          </a:p>
          <a:p>
            <a:r>
              <a:rPr sz="1200"/>
              <a:t>commentaire non généré (Palier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6000" y="3900000"/>
            <a:ext cx="55388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Prévision</a:t>
            </a:r>
          </a:p>
          <a:p>
            <a:r>
              <a:rPr sz="1200"/>
              <a:t>Pas de sortie du rouge projetée (probabilité 0 % sous 10 Jours ouvrés)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ENT-C — Orange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0000"/>
            <a:ext cx="55388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Règles déclenchantes</a:t>
            </a:r>
          </a:p>
          <a:p>
            <a:r>
              <a:rPr sz="1200"/>
              <a:t>IND-4 : 18 % (seuil ≥ 10 %)</a:t>
            </a:r>
          </a:p>
          <a:p>
            <a:r>
              <a:rPr sz="1200"/>
              <a:t>Tickets en cause : </a:t>
            </a:r>
            <a:r>
              <a:rPr sz="1200"/>
              <a:t>DEMO-2350</a:t>
            </a:r>
            <a:r>
              <a:rPr sz="1200"/>
              <a:t>, </a:t>
            </a:r>
            <a:r>
              <a:rPr sz="1200"/>
              <a:t>DEMO-2414</a:t>
            </a:r>
            <a:r>
              <a:rPr sz="1200"/>
              <a:t>, </a:t>
            </a:r>
            <a:r>
              <a:rPr sz="1200"/>
              <a:t>DEMO-2612</a:t>
            </a:r>
            <a:r>
              <a:rPr sz="1200"/>
              <a:t>, </a:t>
            </a:r>
            <a:r>
              <a:rPr sz="1200"/>
              <a:t>DEMO-2654</a:t>
            </a:r>
            <a:r>
              <a:rPr sz="1200"/>
              <a:t>, </a:t>
            </a:r>
            <a:r>
              <a:rPr sz="1200"/>
              <a:t>DEMO-2658</a:t>
            </a:r>
            <a:r>
              <a:rPr sz="1200"/>
              <a:t>, </a:t>
            </a:r>
            <a:r>
              <a:rPr sz="1200"/>
              <a:t>DEMO-2665</a:t>
            </a:r>
            <a:r>
              <a:rPr sz="1200"/>
              <a:t>, </a:t>
            </a:r>
            <a:r>
              <a:rPr sz="1200"/>
              <a:t>DEMO-2679</a:t>
            </a:r>
            <a:r>
              <a:rPr sz="1200"/>
              <a:t>, </a:t>
            </a:r>
            <a:r>
              <a:rPr sz="1200"/>
              <a:t>DEMO-2687</a:t>
            </a:r>
            <a:r>
              <a:rPr sz="1200"/>
              <a:t>, </a:t>
            </a:r>
            <a:r>
              <a:rPr sz="1200"/>
              <a:t>DEMO-2740</a:t>
            </a:r>
            <a:r>
              <a:rPr sz="1200"/>
              <a:t>, </a:t>
            </a:r>
            <a:r>
              <a:rPr sz="1200"/>
              <a:t>DEMO-2843</a:t>
            </a:r>
            <a:r>
              <a:rPr sz="1200"/>
              <a:t>, </a:t>
            </a:r>
            <a:r>
              <a:rPr sz="1200"/>
              <a:t>DEMO-2868</a:t>
            </a:r>
            <a:r>
              <a:rPr sz="1200"/>
              <a:t>, </a:t>
            </a:r>
            <a:r>
              <a:rPr sz="1200"/>
              <a:t>DEMO-2944</a:t>
            </a:r>
            <a:r>
              <a:rPr sz="1200"/>
              <a:t>, </a:t>
            </a:r>
            <a:r>
              <a:rPr sz="1200"/>
              <a:t>DEMO-3011</a:t>
            </a:r>
            <a:r>
              <a:rPr sz="1200"/>
              <a:t>, </a:t>
            </a:r>
            <a:r>
              <a:rPr sz="1200"/>
              <a:t>DEMO-3041</a:t>
            </a:r>
            <a:r>
              <a:rPr sz="1200"/>
              <a:t>, </a:t>
            </a:r>
            <a:r>
              <a:rPr sz="1200"/>
              <a:t>DEMO-3100</a:t>
            </a:r>
            <a:r>
              <a:rPr sz="1200"/>
              <a:t>, </a:t>
            </a:r>
            <a:r>
              <a:rPr sz="1200"/>
              <a:t>DEMO-3111</a:t>
            </a:r>
            <a:r>
              <a:rPr sz="1200"/>
              <a:t>, </a:t>
            </a:r>
            <a:r>
              <a:rPr sz="1200"/>
              <a:t>DEMO-3120</a:t>
            </a:r>
            <a:r>
              <a:rPr sz="1200"/>
              <a:t>, </a:t>
            </a:r>
            <a:r>
              <a:rPr sz="1200"/>
              <a:t>DEMO-3123</a:t>
            </a:r>
            <a:r>
              <a:rPr sz="1200"/>
              <a:t>, </a:t>
            </a:r>
            <a:r>
              <a:rPr sz="1200"/>
              <a:t>DEMO-3132</a:t>
            </a:r>
            <a:r>
              <a:rPr sz="1200"/>
              <a:t>, </a:t>
            </a:r>
            <a:r>
              <a:rPr sz="1200"/>
              <a:t>DEMO-3193</a:t>
            </a:r>
            <a:r>
              <a:rPr sz="1200"/>
              <a:t>, </a:t>
            </a:r>
            <a:r>
              <a:rPr sz="1200"/>
              <a:t>DEMO-3220</a:t>
            </a:r>
            <a:r>
              <a:rPr sz="1200"/>
              <a:t>, </a:t>
            </a:r>
            <a:r>
              <a:rPr sz="1200"/>
              <a:t>DEMO-3282</a:t>
            </a:r>
            <a:r>
              <a:rPr sz="1200"/>
              <a:t>, </a:t>
            </a:r>
            <a:r>
              <a:rPr sz="1200"/>
              <a:t>DEMO-3296</a:t>
            </a:r>
            <a:r>
              <a:rPr sz="1200"/>
              <a:t>, </a:t>
            </a:r>
            <a:r>
              <a:rPr sz="1200"/>
              <a:t>DEMO-3378</a:t>
            </a:r>
            <a:r>
              <a:rPr sz="1200"/>
              <a:t>, </a:t>
            </a:r>
            <a:r>
              <a:rPr sz="1200"/>
              <a:t>DEMO-3396</a:t>
            </a:r>
            <a:r>
              <a:rPr sz="1200"/>
              <a:t>, </a:t>
            </a:r>
            <a:r>
              <a:rPr sz="1200"/>
              <a:t>DEMO-3452</a:t>
            </a:r>
            <a:r>
              <a:rPr sz="1200"/>
              <a:t>, </a:t>
            </a:r>
            <a:r>
              <a:rPr sz="1200"/>
              <a:t>DEMO-3453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000000"/>
          <a:ext cx="55388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040"/>
                <a:gridCol w="1107760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KPI clé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Valeur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Bloquante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Anomalies ouvertes par gravité — Majeure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Entrées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36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Sorties d'Anomalies,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38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médian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Âge maximal des Anomalies ouvertes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Migration à blanc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Recette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des Cas de test — 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18 %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96000" y="1500000"/>
            <a:ext cx="55388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Brouillon de commentaire</a:t>
            </a:r>
          </a:p>
          <a:p>
            <a:r>
              <a:rPr sz="1200"/>
              <a:t>commentaire non généré (Palier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6000" y="3900000"/>
            <a:ext cx="55388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Prévision</a:t>
            </a:r>
          </a:p>
          <a:p>
            <a:r>
              <a:rPr sz="1200"/>
              <a:t>Risque d'entrée en rouge IND-4 : franchissement estimé le 14/10/2026 (valeur 18 %, seuil rouge 20 %, horizon 5 Jours ouvrés), valeur projetée 20,7 %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Tendances sur 8 semaines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00000"/>
          <a:ext cx="11277600" cy="3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939800"/>
                <a:gridCol w="939800"/>
                <a:gridCol w="939800"/>
                <a:gridCol w="939800"/>
                <a:gridCol w="939800"/>
                <a:gridCol w="939800"/>
                <a:gridCol w="939800"/>
                <a:gridCol w="939800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Série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21/08/2026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28/08/2026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04/09/2026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11/09/2026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18/09/2026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25/09/2026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02/10/2026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Semaine au 09/10/2026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Bloquantes ouvertes — ENT-J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— Programme — Migration à blanc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4,9 %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4,9 %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6,7 %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— Programme — Recette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6,6 %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6,6 %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7,1 %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7,1 %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Taux de KO — Programme — 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13,9 %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18,6 %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10 bloquantes les plus anciennes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0000"/>
            <a:ext cx="11277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10 sur 13 bloquantes ouvertes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50000"/>
          <a:ext cx="11277600" cy="36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85"/>
                <a:gridCol w="1611085"/>
                <a:gridCol w="2416628"/>
                <a:gridCol w="2416628"/>
                <a:gridCol w="1611085"/>
                <a:gridCol w="1611089"/>
              </a:tblGrid>
              <a:tr h="330000">
                <a:tc>
                  <a:txBody>
                    <a:bodyPr/>
                    <a:lstStyle/>
                    <a:p>
                      <a:r>
                        <a:rPr sz="1100" b="1"/>
                        <a:t>Clé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Entité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Domaine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Statut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Âge (Jours ouvrés)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DEMO-2842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À retester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DEMO-2928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referentiel_clients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comptabilite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epargne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epargne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epargne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comptabilite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/>
                        <a:t>DEMO-3316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paiements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méthode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00000"/>
          <a:ext cx="11277600" cy="2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07"/>
                <a:gridCol w="5205046"/>
                <a:gridCol w="3470030"/>
                <a:gridCol w="1735017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Seuils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Version de la Grille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Anomalies bloquantes 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Orange ≥ 1 ; Rouge ≥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Âge de la plus ancienne bloquante ouverte (Jours ouvrés)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Orange &gt; 5 ; Rouge &gt;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Anomalies majeures 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Jaune ≥ 5 ; Orange ≥ 10 ; Rouge ≥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Taux de KO des Cas de test exécutés, Phase 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Jaune ≥ 5 % ; Orange ≥ 10 % ; Rouge ≥ 20 %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Certifications refusées (Vague en cours)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Rouge ≥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Certifications réservées (Vague en cours)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Jaune ≥ 1 ; Orange ≥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Ratio Entrées / Sorties bloquantes et majeures, Fenêtre glissante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Jaune &gt; 1 ; Orange &gt; 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IND-8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Hausse du taux de KO par rapport à J-5 (points)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Jaune ≥ 3 % ; Orange ≥ 5 %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700000"/>
          <a:ext cx="112776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8458200"/>
              </a:tblGrid>
              <a:tr h="250000">
                <a:tc>
                  <a:txBody>
                    <a:bodyPr/>
                    <a:lstStyle/>
                    <a:p>
                      <a:r>
                        <a:rPr sz="900" b="1"/>
                        <a:t>Traçabilité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Valeur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Date d'arrêté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09/10/2026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Palier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Palier 1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journal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Horodatage d'extraction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extraction Jira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Nombre de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3 547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Version de la Grille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c344967e71de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Version des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ccd712eb3c328843477dbc8ea0ea9a3becdbee5e7d5c04d8bafbf96550416a13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Version du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 (Palier 1)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Version du 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sans objet (Palier 1)</a:t>
                      </a:r>
                    </a:p>
                  </a:txBody>
                  <a:tcPr/>
                </a:tc>
              </a:tr>
              <a:tr h="250000">
                <a:tc>
                  <a:txBody>
                    <a:bodyPr/>
                    <a:lstStyle/>
                    <a:p>
                      <a:r>
                        <a:rPr sz="900"/>
                        <a:t>Version des contrats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quotidien du 09/10/2026</dc:title>
  <dc:subject/>
  <dc:creator>Usine de migration (démonstrateur)</dc:creator>
  <cp:keywords/>
  <dc:description>Gabarit fictif du démonstrateur, sans logo ni nom réel.</dc:description>
  <cp:lastModifiedBy>Usine de migration (démonstrateur)</cp:lastModifiedBy>
  <cp:revision>1</cp:revision>
  <dcterms:created xsi:type="dcterms:W3CDTF">2026-10-09T00:00:00Z</dcterms:created>
  <dcterms:modified xsi:type="dcterms:W3CDTF">2026-10-09T00:00:00Z</dcterms:modified>
  <cp:category/>
  <cp:lastPrinted>2026-10-09T00:00:00Z</cp:lastPrinted>
</cp:coreProperties>
</file>